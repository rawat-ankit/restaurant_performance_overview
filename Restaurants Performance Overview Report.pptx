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60" r:id="rId2"/>
    <p:sldId id="256" r:id="rId3"/>
    <p:sldId id="261"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07" d="100"/>
          <a:sy n="107" d="100"/>
        </p:scale>
        <p:origin x="67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3/15/2026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72143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3/15/2026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616851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3/15/2026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956795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3/15/2026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87940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3/15/2026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95687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3/15/2026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445950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3/15/2026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64416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3/15/2026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829667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3/15/2026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127478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3/15/2026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09154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3/15/2026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5196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3/15/2026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0358560"/>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linkedin.com/in/ankitrawat-ds/" TargetMode="External"/><Relationship Id="rId7" Type="http://schemas.openxmlformats.org/officeDocument/2006/relationships/hyperlink" Target="https://libtechnophile.blogspot.com/2021/06/using-microsoft-sql-server-mssql-server.html" TargetMode="External"/><Relationship Id="rId2" Type="http://schemas.openxmlformats.org/officeDocument/2006/relationships/hyperlink" Target="mailto:ankitrawat.ds@gmail.com" TargetMode="External"/><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hyperlink" Target="https://itrak365.com/support/power-bi-icon-7/" TargetMode="Externa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D8A09F-76AE-63E9-E10A-FF53B97669A7}"/>
              </a:ext>
            </a:extLst>
          </p:cNvPr>
          <p:cNvSpPr txBox="1"/>
          <p:nvPr/>
        </p:nvSpPr>
        <p:spPr>
          <a:xfrm>
            <a:off x="800100" y="241300"/>
            <a:ext cx="10579100" cy="461665"/>
          </a:xfrm>
          <a:prstGeom prst="rect">
            <a:avLst/>
          </a:prstGeom>
          <a:noFill/>
        </p:spPr>
        <p:txBody>
          <a:bodyPr wrap="square" rtlCol="0">
            <a:spAutoFit/>
          </a:bodyPr>
          <a:lstStyle/>
          <a:p>
            <a:pPr algn="ctr"/>
            <a:r>
              <a:rPr lang="en-IN" sz="2400" b="1" noProof="0" dirty="0">
                <a:latin typeface="Calibri" panose="020F0502020204030204" pitchFamily="34" charset="0"/>
                <a:ea typeface="Calibri" panose="020F0502020204030204" pitchFamily="34" charset="0"/>
                <a:cs typeface="Calibri" panose="020F0502020204030204" pitchFamily="34" charset="0"/>
              </a:rPr>
              <a:t>Credit Risk Analysis &amp; Insights using Power BI</a:t>
            </a:r>
          </a:p>
        </p:txBody>
      </p:sp>
      <p:sp>
        <p:nvSpPr>
          <p:cNvPr id="5" name="TextBox 4">
            <a:extLst>
              <a:ext uri="{FF2B5EF4-FFF2-40B4-BE49-F238E27FC236}">
                <a16:creationId xmlns:a16="http://schemas.microsoft.com/office/drawing/2014/main" id="{0E5D1728-0283-2550-6A41-5029214BE8C5}"/>
              </a:ext>
            </a:extLst>
          </p:cNvPr>
          <p:cNvSpPr txBox="1"/>
          <p:nvPr/>
        </p:nvSpPr>
        <p:spPr>
          <a:xfrm>
            <a:off x="800100" y="2505215"/>
            <a:ext cx="4394200" cy="1354217"/>
          </a:xfrm>
          <a:prstGeom prst="rect">
            <a:avLst/>
          </a:prstGeom>
          <a:noFill/>
        </p:spPr>
        <p:txBody>
          <a:bodyPr wrap="square" rtlCol="0">
            <a:spAutoFit/>
          </a:bodyPr>
          <a:lstStyle/>
          <a:p>
            <a:r>
              <a:rPr lang="en-IN" b="1" noProof="0" dirty="0">
                <a:latin typeface="Calibri" panose="020F0502020204030204" pitchFamily="34" charset="0"/>
                <a:ea typeface="Calibri" panose="020F0502020204030204" pitchFamily="34" charset="0"/>
                <a:cs typeface="Calibri" panose="020F0502020204030204" pitchFamily="34" charset="0"/>
              </a:rPr>
              <a:t>Tools Used:</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Power BI Desktop</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DAX (Calculated Columns and Measures)</a:t>
            </a:r>
          </a:p>
          <a:p>
            <a:pPr marL="285750" indent="-285750">
              <a:buFont typeface="Arial" panose="020B0604020202020204" pitchFamily="34" charset="0"/>
              <a:buChar char="•"/>
            </a:pPr>
            <a:r>
              <a:rPr lang="en-IN" sz="1600" dirty="0">
                <a:latin typeface="Calibri" panose="020F0502020204030204" pitchFamily="34" charset="0"/>
                <a:ea typeface="Calibri" panose="020F0502020204030204" pitchFamily="34" charset="0"/>
                <a:cs typeface="Calibri" panose="020F0502020204030204" pitchFamily="34" charset="0"/>
              </a:rPr>
              <a:t>MS SQL Server</a:t>
            </a:r>
            <a:endParaRPr lang="en-IN" sz="1600" noProof="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Excel/CSV Data</a:t>
            </a:r>
          </a:p>
        </p:txBody>
      </p:sp>
      <p:sp>
        <p:nvSpPr>
          <p:cNvPr id="9" name="TextBox 8">
            <a:extLst>
              <a:ext uri="{FF2B5EF4-FFF2-40B4-BE49-F238E27FC236}">
                <a16:creationId xmlns:a16="http://schemas.microsoft.com/office/drawing/2014/main" id="{2233635C-730F-78E2-7FA9-EB656B5718EE}"/>
              </a:ext>
            </a:extLst>
          </p:cNvPr>
          <p:cNvSpPr txBox="1"/>
          <p:nvPr/>
        </p:nvSpPr>
        <p:spPr>
          <a:xfrm>
            <a:off x="800100" y="1050092"/>
            <a:ext cx="10579100" cy="1354217"/>
          </a:xfrm>
          <a:prstGeom prst="rect">
            <a:avLst/>
          </a:prstGeom>
          <a:noFill/>
        </p:spPr>
        <p:txBody>
          <a:bodyPr wrap="square" rtlCol="0">
            <a:spAutoFit/>
          </a:bodyPr>
          <a:lstStyle/>
          <a:p>
            <a:r>
              <a:rPr lang="en-IN" b="1" noProof="0" dirty="0">
                <a:latin typeface="Calibri" panose="020F0502020204030204" pitchFamily="34" charset="0"/>
                <a:ea typeface="Calibri" panose="020F0502020204030204" pitchFamily="34" charset="0"/>
                <a:cs typeface="Calibri" panose="020F0502020204030204" pitchFamily="34" charset="0"/>
              </a:rPr>
              <a:t>Overview:</a:t>
            </a:r>
          </a:p>
          <a:p>
            <a:r>
              <a:rPr lang="en-US" sz="1600" dirty="0">
                <a:latin typeface="Calibri" panose="020F0502020204030204" pitchFamily="34" charset="0"/>
                <a:ea typeface="Calibri" panose="020F0502020204030204" pitchFamily="34" charset="0"/>
                <a:cs typeface="Calibri" panose="020F0502020204030204" pitchFamily="34" charset="0"/>
              </a:rPr>
              <a:t>This project analyzes restaurant sales and order data to understand customer ordering behavior, menu performance, and overall business trends. Using an interactive Power BI dashboard, the analysis highlights key metrics such as total orders, total sales, and average order value to provide a clear overview of restaurant performance. The dashboard also explores ordering patterns across different times of the day and days of the week, helping identify peak business hours.</a:t>
            </a:r>
            <a:endParaRPr lang="en-IN" sz="1600" dirty="0">
              <a:latin typeface="Calibri" panose="020F0502020204030204" pitchFamily="34" charset="0"/>
              <a:ea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754E0A75-EC26-ED5C-7F59-092E4FFFC224}"/>
              </a:ext>
            </a:extLst>
          </p:cNvPr>
          <p:cNvSpPr txBox="1"/>
          <p:nvPr/>
        </p:nvSpPr>
        <p:spPr>
          <a:xfrm>
            <a:off x="8712200" y="4699913"/>
            <a:ext cx="2667000" cy="1354217"/>
          </a:xfrm>
          <a:prstGeom prst="rect">
            <a:avLst/>
          </a:prstGeom>
          <a:noFill/>
        </p:spPr>
        <p:txBody>
          <a:bodyPr wrap="square" rtlCol="0">
            <a:spAutoFit/>
          </a:bodyPr>
          <a:lstStyle/>
          <a:p>
            <a:r>
              <a:rPr lang="en-IN" b="1" noProof="0" dirty="0">
                <a:latin typeface="Calibri" panose="020F0502020204030204" pitchFamily="34" charset="0"/>
                <a:ea typeface="Calibri" panose="020F0502020204030204" pitchFamily="34" charset="0"/>
                <a:cs typeface="Calibri" panose="020F0502020204030204" pitchFamily="34" charset="0"/>
              </a:rPr>
              <a:t>By:</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rPr>
              <a:t>Ankit Rawat</a:t>
            </a:r>
          </a:p>
          <a:p>
            <a:pPr marL="285750" indent="-285750">
              <a:buFont typeface="Arial" panose="020B0604020202020204" pitchFamily="34" charset="0"/>
              <a:buChar char="•"/>
            </a:pPr>
            <a:r>
              <a:rPr lang="en-IN" sz="1600" i="1" noProof="0" dirty="0">
                <a:latin typeface="Calibri" panose="020F0502020204030204" pitchFamily="34" charset="0"/>
                <a:ea typeface="Calibri" panose="020F0502020204030204" pitchFamily="34" charset="0"/>
                <a:cs typeface="Calibri" panose="020F0502020204030204" pitchFamily="34" charset="0"/>
              </a:rPr>
              <a:t>Data Analyst</a:t>
            </a:r>
          </a:p>
          <a:p>
            <a:pPr marL="285750" indent="-285750">
              <a:buFont typeface="Arial" panose="020B0604020202020204" pitchFamily="34" charset="0"/>
              <a:buChar char="•"/>
            </a:pPr>
            <a:r>
              <a:rPr lang="en-IN" sz="1600" noProof="0" dirty="0">
                <a:latin typeface="Calibri" panose="020F0502020204030204" pitchFamily="34" charset="0"/>
                <a:ea typeface="Calibri" panose="020F0502020204030204" pitchFamily="34" charset="0"/>
                <a:cs typeface="Calibri" panose="020F0502020204030204" pitchFamily="34" charset="0"/>
                <a:hlinkClick r:id="rId2"/>
              </a:rPr>
              <a:t>ankitrawat.ds@gmail.com</a:t>
            </a:r>
            <a:endParaRPr lang="en-IN" sz="1600" noProof="0"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IN" sz="1600" noProof="0" dirty="0" err="1">
                <a:latin typeface="Calibri" panose="020F0502020204030204" pitchFamily="34" charset="0"/>
                <a:ea typeface="Calibri" panose="020F0502020204030204" pitchFamily="34" charset="0"/>
                <a:cs typeface="Calibri" panose="020F0502020204030204" pitchFamily="34" charset="0"/>
                <a:hlinkClick r:id="rId3"/>
              </a:rPr>
              <a:t>Linkedin</a:t>
            </a:r>
            <a:endParaRPr lang="en-IN" sz="1600" noProof="0" dirty="0">
              <a:latin typeface="Calibri" panose="020F0502020204030204" pitchFamily="34" charset="0"/>
              <a:ea typeface="Calibri" panose="020F0502020204030204" pitchFamily="34" charset="0"/>
              <a:cs typeface="Calibri" panose="020F0502020204030204" pitchFamily="34" charset="0"/>
            </a:endParaRPr>
          </a:p>
        </p:txBody>
      </p:sp>
      <p:pic>
        <p:nvPicPr>
          <p:cNvPr id="14" name="Picture 13" descr="A yellow text on a black background">
            <a:extLst>
              <a:ext uri="{FF2B5EF4-FFF2-40B4-BE49-F238E27FC236}">
                <a16:creationId xmlns:a16="http://schemas.microsoft.com/office/drawing/2014/main" id="{1B4C73BC-D361-995A-973F-EA85D21691E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812800" y="3859433"/>
            <a:ext cx="3883025" cy="1036418"/>
          </a:xfrm>
          <a:prstGeom prst="rect">
            <a:avLst/>
          </a:prstGeom>
        </p:spPr>
      </p:pic>
      <p:pic>
        <p:nvPicPr>
          <p:cNvPr id="3" name="Picture 2">
            <a:extLst>
              <a:ext uri="{FF2B5EF4-FFF2-40B4-BE49-F238E27FC236}">
                <a16:creationId xmlns:a16="http://schemas.microsoft.com/office/drawing/2014/main" id="{9BF19726-31A0-2237-6DD0-9B786806DE99}"/>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1028700" y="4882695"/>
            <a:ext cx="1443375" cy="1171435"/>
          </a:xfrm>
          <a:prstGeom prst="rect">
            <a:avLst/>
          </a:prstGeom>
        </p:spPr>
      </p:pic>
    </p:spTree>
    <p:extLst>
      <p:ext uri="{BB962C8B-B14F-4D97-AF65-F5344CB8AC3E}">
        <p14:creationId xmlns:p14="http://schemas.microsoft.com/office/powerpoint/2010/main" val="4150103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79833C7-FDE4-4657-B0B1-32BE833C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0B2503D-1F98-A983-6297-6CBC8EA1F8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2" y="0"/>
            <a:ext cx="12173415" cy="6858000"/>
          </a:xfrm>
          <a:prstGeom prst="rect">
            <a:avLst/>
          </a:prstGeom>
        </p:spPr>
      </p:pic>
    </p:spTree>
    <p:extLst>
      <p:ext uri="{BB962C8B-B14F-4D97-AF65-F5344CB8AC3E}">
        <p14:creationId xmlns:p14="http://schemas.microsoft.com/office/powerpoint/2010/main" val="37060790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38B7-CB8C-FF2C-40F5-EE379C1E165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A85AFCE-8FB9-2FE6-C790-CC47AD975160}"/>
              </a:ext>
            </a:extLst>
          </p:cNvPr>
          <p:cNvSpPr txBox="1"/>
          <p:nvPr/>
        </p:nvSpPr>
        <p:spPr>
          <a:xfrm>
            <a:off x="800100" y="241300"/>
            <a:ext cx="10579100" cy="461665"/>
          </a:xfrm>
          <a:prstGeom prst="rect">
            <a:avLst/>
          </a:prstGeom>
          <a:noFill/>
        </p:spPr>
        <p:txBody>
          <a:bodyPr wrap="square" rtlCol="0">
            <a:spAutoFit/>
          </a:bodyPr>
          <a:lstStyle/>
          <a:p>
            <a:pPr algn="ctr"/>
            <a:r>
              <a:rPr lang="en-IN" sz="2400" b="1" noProof="0">
                <a:latin typeface="Calibri" panose="020F0502020204030204" pitchFamily="34" charset="0"/>
                <a:ea typeface="Calibri" panose="020F0502020204030204" pitchFamily="34" charset="0"/>
                <a:cs typeface="Calibri" panose="020F0502020204030204" pitchFamily="34" charset="0"/>
              </a:rPr>
              <a:t>Meaningful Insights</a:t>
            </a:r>
            <a:endParaRPr lang="en-IN" sz="2400" b="1" noProof="0" dirty="0">
              <a:latin typeface="Calibri" panose="020F0502020204030204" pitchFamily="34" charset="0"/>
              <a:ea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28AE534E-1F67-01AC-A229-8A75D295606D}"/>
              </a:ext>
            </a:extLst>
          </p:cNvPr>
          <p:cNvSpPr txBox="1"/>
          <p:nvPr/>
        </p:nvSpPr>
        <p:spPr>
          <a:xfrm>
            <a:off x="800100" y="742965"/>
            <a:ext cx="10579100" cy="4524315"/>
          </a:xfrm>
          <a:prstGeom prst="rect">
            <a:avLst/>
          </a:prstGeom>
          <a:noFill/>
        </p:spPr>
        <p:txBody>
          <a:bodyPr wrap="square" rtlCol="0">
            <a:spAutoFit/>
          </a:bodyPr>
          <a:lstStyle/>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Strong Growth in Orders and Revenue</a:t>
            </a:r>
          </a:p>
          <a:p>
            <a:r>
              <a:rPr lang="en-US" sz="1600" dirty="0">
                <a:latin typeface="Calibri" panose="020F0502020204030204" pitchFamily="34" charset="0"/>
                <a:ea typeface="Calibri" panose="020F0502020204030204" pitchFamily="34" charset="0"/>
                <a:cs typeface="Calibri" panose="020F0502020204030204" pitchFamily="34" charset="0"/>
              </a:rPr>
              <a:t>The restaurant processed 12K total orders, generating $159K in sales, with both metrics showing over 7% month-over-month growth. This indicates increasing customer demand and positive business momentum.</a:t>
            </a: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Decrease in Average Order Value</a:t>
            </a:r>
          </a:p>
          <a:p>
            <a:r>
              <a:rPr lang="en-US" sz="1600" dirty="0">
                <a:latin typeface="Calibri" panose="020F0502020204030204" pitchFamily="34" charset="0"/>
                <a:ea typeface="Calibri" panose="020F0502020204030204" pitchFamily="34" charset="0"/>
                <a:cs typeface="Calibri" panose="020F0502020204030204" pitchFamily="34" charset="0"/>
              </a:rPr>
              <a:t>Although orders and sales are increasing, the average order value has slightly decreased by 1.7%. This may indicate that customers are ordering fewer items per transaction or choosing lower-priced menu items.</a:t>
            </a:r>
            <a:endParaRPr lang="en-US" sz="1600" i="1" dirty="0">
              <a:latin typeface="Calibri" panose="020F0502020204030204" pitchFamily="34" charset="0"/>
              <a:ea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Lunch and Evening Are Peak Ordering Times</a:t>
            </a:r>
          </a:p>
          <a:p>
            <a:r>
              <a:rPr lang="en-US" sz="1600" dirty="0">
                <a:latin typeface="Calibri" panose="020F0502020204030204" pitchFamily="34" charset="0"/>
                <a:ea typeface="Calibri" panose="020F0502020204030204" pitchFamily="34" charset="0"/>
                <a:cs typeface="Calibri" panose="020F0502020204030204" pitchFamily="34" charset="0"/>
              </a:rPr>
              <a:t>Order activity peaks around 12 PM during lunch hours and again between 5 PM and 7 PM during dinner hours. This suggests that these time periods represent the restaurant’s highest demand windows.</a:t>
            </a: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Monday Is the Busiest Day</a:t>
            </a:r>
          </a:p>
          <a:p>
            <a:r>
              <a:rPr lang="en-US" sz="1600" dirty="0">
                <a:latin typeface="Calibri" panose="020F0502020204030204" pitchFamily="34" charset="0"/>
                <a:ea typeface="Calibri" panose="020F0502020204030204" pitchFamily="34" charset="0"/>
                <a:cs typeface="Calibri" panose="020F0502020204030204" pitchFamily="34" charset="0"/>
              </a:rPr>
              <a:t>Among all weekdays, Monday records the highest number of orders, while Wednesday shows the lowest demand. Order volume also increases again towards Friday, likely due to customers preparing for the weekend.</a:t>
            </a: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Asian Cuisine Is the Most Popular</a:t>
            </a:r>
          </a:p>
          <a:p>
            <a:r>
              <a:rPr lang="en-US" sz="1600" dirty="0">
                <a:latin typeface="Calibri" panose="020F0502020204030204" pitchFamily="34" charset="0"/>
                <a:ea typeface="Calibri" panose="020F0502020204030204" pitchFamily="34" charset="0"/>
                <a:cs typeface="Calibri" panose="020F0502020204030204" pitchFamily="34" charset="0"/>
              </a:rPr>
              <a:t>Asian cuisine receives the highest number of orders (3.5K), indicating strong customer preference for this category. However, Italian cuisine generates the highest revenue ($49.5K), suggesting higher-priced dishes or larger order sizes.</a:t>
            </a:r>
          </a:p>
          <a:p>
            <a:pPr marL="285750" indent="-285750">
              <a:buFont typeface="Arial" panose="020B0604020202020204" pitchFamily="34" charset="0"/>
              <a:buChar char="•"/>
            </a:pPr>
            <a:r>
              <a:rPr lang="en-US" sz="1600" b="1" i="1" dirty="0">
                <a:latin typeface="Calibri" panose="020F0502020204030204" pitchFamily="34" charset="0"/>
                <a:ea typeface="Calibri" panose="020F0502020204030204" pitchFamily="34" charset="0"/>
                <a:cs typeface="Calibri" panose="020F0502020204030204" pitchFamily="34" charset="0"/>
              </a:rPr>
              <a:t>Revenue Contribution Differs by Cuisine</a:t>
            </a:r>
          </a:p>
          <a:p>
            <a:r>
              <a:rPr lang="en-US" sz="1600" dirty="0">
                <a:latin typeface="Calibri" panose="020F0502020204030204" pitchFamily="34" charset="0"/>
                <a:ea typeface="Calibri" panose="020F0502020204030204" pitchFamily="34" charset="0"/>
                <a:cs typeface="Calibri" panose="020F0502020204030204" pitchFamily="34" charset="0"/>
              </a:rPr>
              <a:t>While Asian cuisine leads in order volume, Italian cuisine produces higher revenue, suggesting that Italian dishes may have higher average prices or higher-value orders.</a:t>
            </a:r>
          </a:p>
        </p:txBody>
      </p:sp>
    </p:spTree>
    <p:extLst>
      <p:ext uri="{BB962C8B-B14F-4D97-AF65-F5344CB8AC3E}">
        <p14:creationId xmlns:p14="http://schemas.microsoft.com/office/powerpoint/2010/main" val="2898708136"/>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60</TotalTime>
  <Words>361</Words>
  <Application>Microsoft Office PowerPoint</Application>
  <PresentationFormat>Widescreen</PresentationFormat>
  <Paragraphs>26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Calisto MT</vt:lpstr>
      <vt:lpstr>Univers Condensed</vt:lpstr>
      <vt:lpstr>ChronicleVTI</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 Rawat</dc:creator>
  <cp:lastModifiedBy>Ankit Rawat</cp:lastModifiedBy>
  <cp:revision>15</cp:revision>
  <dcterms:created xsi:type="dcterms:W3CDTF">2025-07-20T16:17:48Z</dcterms:created>
  <dcterms:modified xsi:type="dcterms:W3CDTF">2026-03-15T18:46:11Z</dcterms:modified>
</cp:coreProperties>
</file>